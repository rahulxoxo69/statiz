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7" r:id="rId8"/>
    <p:sldId id="258" r:id="rId9"/>
    <p:sldId id="259" r:id="rId10"/>
    <p:sldId id="272" r:id="rId27"/>
    <p:sldId id="271" r:id="rId26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Relationship Id="rId26" Type="http://schemas.openxmlformats.org/officeDocument/2006/relationships/slide" Target="slides/slide5.xml"/><Relationship Id="rId27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600"/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1600"/>
              <a:t/>
            </a:r>
          </a:p>
          <a:p>
            <a:r>
              <a:rPr sz="1600"/>
              <a:t>Team name: Team Statiz</a:t>
            </a:r>
          </a:p>
          <a:p>
            <a:r>
              <a:rPr sz="1600"/>
              <a:t>Team leader name: Rahul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00000" y="14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F172A"/>
                </a:solidFill>
              </a:rPr>
              <a:t>Statiz turns minimal product information — part number, brand, short description (and, when available, manufacturer URLs and reference PDFs) — into rich, governed product intelligence delivered in the exact 252-column expected output format.</a:t>
            </a:r>
          </a:p>
          <a:p>
            <a:r>
              <a:rPr sz="1200">
                <a:solidFill>
                  <a:srgbClr val="0F172A"/>
                </a:solidFill>
              </a:rPr>
              <a:t>On the provided sample dataset (1,000 rows, six sparse input columns), the rule + AI pipeline resolves trading brands from manufacturer names, classifies every row into Dept/Class/Fine with UNSPSC codes, and extracts technical specs (dimensions, grit, voltage, pack counts, materials) into typed attribute triplets — generating all six description variants, features and attributes dynamically. Nothing is hardcoded to the sample: fuzzy column detection and generic parsing rules handle unseen evaluation data.</a:t>
            </a:r>
          </a:p>
          <a:p>
            <a:r>
              <a:rPr sz="1200">
                <a:solidFill>
                  <a:srgbClr val="0F172A"/>
                </a:solidFill>
              </a:rPr>
              <a:t>Results: 1,000/1,000 rows classified (zero empty), 640 with UNSPSC codes, 627 with extracted attributes; URL-scraping mode (JSON-LD + PDF datasheets) adds deeper enrichment when links exist; 8-second CPU runtime at $0 API cost, with a human review console for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00000" y="700000"/>
            <a:ext cx="8744000" cy="560000"/>
          </a:xfrm>
          <a:prstGeom prst="rect">
            <a:avLst/>
          </a:prstGeom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500">
                <a:solidFill>
                  <a:srgbClr val="0B1E4B"/>
                </a:solidFill>
              </a:rPr>
              <a:t>1 · How does your solution enrich minimal product information?</a:t>
            </a:r>
          </a:p>
        </p:txBody>
      </p:sp>
      <p:sp>
        <p:nvSpPr>
          <p:cNvPr id="121" name="Subtitle 121"/>
          <p:cNvSpPr txBox="1"/>
          <p:nvPr/>
        </p:nvSpPr>
        <p:spPr>
          <a:xfrm>
            <a:off x="200000" y="1280000"/>
            <a:ext cx="8744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66707F"/>
                </a:solidFill>
              </a:rPr>
              <a:t>Briefly explain how your solution transforms limited inputs (e.g., Part Number, Brand, Short Description) into rich product intelligence.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0000" y="1900000"/>
            <a:ext cx="8744000" cy="3000000"/>
          </a:xfrm>
          <a:prstGeom prst="rect">
            <a:avLst/>
          </a:prstGeom>
          <a:noFill/>
        </p:spPr>
        <p:txBody>
          <a:bodyPr wrap="square" lIns="91425" rIns="91425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0F172A"/>
                </a:solidFill>
              </a:rPr>
              <a:t>Description-driven enrichment (no URLs required): a rule-based parser resolves the trading brand (Freud Inc → Diablo; tokens like 3M/Milwaukee found in the description win over distributor names), classifies product type via a 60+ pattern taxonomy (abrasives, lighting, tools, lumber, fasteners, appliances, safety…) into Dept/Class/Fine + UNSPSC, and extracts specs with typed regexes — dimensions, fractions, grit (P150), voltage, amps, Kelvin, lumens, dBA, pack counts, materials (SST → Stainless Steel), colors, teeth — each becoming a label/value/UOM attribute triplet.</a:t>
            </a:r>
          </a:p>
          <a:p>
            <a:r>
              <a:rPr sz="1100">
                <a:solidFill>
                  <a:srgbClr val="0F172A"/>
                </a:solidFill>
              </a:rPr>
              <a:t>URL mode (when links exist): manufacturer pages scraped via static fetch + headless-browser fallback (JSON-LD, meta, page text); reference PDFs (manuals, spec sheets) parsed with PyMuPDF + pdfplumber into key/value tables; a free-tier LLM pass (structured JSON) fuses all evidence into the full delivery schema.</a:t>
            </a:r>
          </a:p>
          <a:p>
            <a:r>
              <a:rPr sz="1100">
                <a:solidFill>
                  <a:srgbClr val="0F172A"/>
                </a:solidFill>
              </a:rPr>
              <a:t>A deterministic heuristic path does the same offline — the system never fails for lack of an API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00000" y="700000"/>
            <a:ext cx="8744000" cy="560000"/>
          </a:xfrm>
          <a:prstGeom prst="rect">
            <a:avLst/>
          </a:prstGeom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500">
                <a:solidFill>
                  <a:srgbClr val="0B1E4B"/>
                </a:solidFill>
              </a:rPr>
              <a:t>2 · How does your solution ensure accuracy and trust?</a:t>
            </a:r>
          </a:p>
        </p:txBody>
      </p:sp>
      <p:sp>
        <p:nvSpPr>
          <p:cNvPr id="121" name="Subtitle 121"/>
          <p:cNvSpPr txBox="1"/>
          <p:nvPr/>
        </p:nvSpPr>
        <p:spPr>
          <a:xfrm>
            <a:off x="200000" y="1280000"/>
            <a:ext cx="8744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66707F"/>
                </a:solidFill>
              </a:rPr>
              <a:t>Validation strategy: confidence scoring, multi-source verification, human review, rule-based validation, AI validation.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0000" y="1900000"/>
            <a:ext cx="8744000" cy="3000000"/>
          </a:xfrm>
          <a:prstGeom prst="rect">
            <a:avLst/>
          </a:prstGeom>
          <a:noFill/>
        </p:spPr>
        <p:txBody>
          <a:bodyPr wrap="square" lIns="91425" rIns="91425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1D4ED8"/>
              </a:buClr>
              <a:buFont typeface="Arial"/>
              <a:buChar char="•"/>
            </a:pPr>
            <a:r>
              <a:rPr sz="1100" b="1">
                <a:solidFill>
                  <a:srgbClr val="1D4ED8"/>
                </a:solidFill>
              </a:rPr>
              <a:t>Confidence scoring on every classification, shown as a badge per product (embedding similarity + LLM self-assessed confidence).</a:t>
            </a:r>
          </a:p>
          <a:p>
            <a:r>
              <a:rPr sz="1100" b="1">
                <a:solidFill>
                  <a:srgbClr val="1D4ED8"/>
                </a:solidFill>
              </a:rPr>
              <a:t>Multi-source verification: LLM values never overwrite hard JSON-LD facts; attributes cross-checked between page text and PDF; brand resolved from multiple signals with a deterministic priority order.</a:t>
            </a:r>
          </a:p>
          <a:p>
            <a:r>
              <a:rPr sz="1100" b="1">
                <a:solidFill>
                  <a:srgbClr val="1D4ED8"/>
                </a:solidFill>
              </a:rPr>
              <a:t>Rule-based validation: typed spec regexes reject malformed values; unit/range checks; required-attribute flags per product family; every enriched attribute stores its source (PDF name / header / regex on description).</a:t>
            </a:r>
          </a:p>
          <a:p>
            <a:r>
              <a:rPr sz="1100" b="1">
                <a:solidFill>
                  <a:srgbClr val="1D4ED8"/>
                </a:solidFill>
              </a:rPr>
              <a:t>Human review console: approve/correct each row before export — governed by construction.</a:t>
            </a:r>
          </a:p>
          <a:p>
            <a:r>
              <a:rPr sz="1100" b="1">
                <a:solidFill>
                  <a:srgbClr val="1D4ED8"/>
                </a:solidFill>
              </a:rPr>
              <a:t>Anti-hallucination constraints: leave-blank rules for unknown fields; no invented certifications or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00000" y="700000"/>
            <a:ext cx="8744000" cy="560000"/>
          </a:xfrm>
          <a:prstGeom prst="rect">
            <a:avLst/>
          </a:prstGeom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500">
                <a:solidFill>
                  <a:srgbClr val="0B1E4B"/>
                </a:solidFill>
              </a:rPr>
              <a:t>3 · What makes your solution scalable for enterprise catalogs?</a:t>
            </a:r>
          </a:p>
        </p:txBody>
      </p:sp>
      <p:sp>
        <p:nvSpPr>
          <p:cNvPr id="121" name="Subtitle 121"/>
          <p:cNvSpPr txBox="1"/>
          <p:nvPr/>
        </p:nvSpPr>
        <p:spPr>
          <a:xfrm>
            <a:off x="200000" y="1280000"/>
            <a:ext cx="8744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66707F"/>
                </a:solidFill>
              </a:rPr>
              <a:t>Handling large catalogs, new manufacturers, different document formats, and continuous product updates.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0000" y="1900000"/>
            <a:ext cx="8744000" cy="3000000"/>
          </a:xfrm>
          <a:prstGeom prst="rect">
            <a:avLst/>
          </a:prstGeom>
          <a:noFill/>
        </p:spPr>
        <p:txBody>
          <a:bodyPr wrap="square" lIns="91425" rIns="91425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1D4ED8"/>
              </a:buClr>
              <a:buFont typeface="Arial"/>
              <a:buChar char="•"/>
            </a:pPr>
            <a:r>
              <a:rPr sz="1100" b="1">
                <a:solidFill>
                  <a:srgbClr val="1D4ED8"/>
                </a:solidFill>
              </a:rPr>
              <a:t>Fuzzy column detection (RapidFuzz): new manufacturers and unseen file layouts map automatically — no code changes, no hardcoding. Proven live: the solver processed the 1,000-row sample dataset with different field combinations and zero per-row configuration.</a:t>
            </a:r>
          </a:p>
          <a:p>
            <a:r>
              <a:rPr sz="1100" b="1">
                <a:solidFill>
                  <a:srgbClr val="1D4ED8"/>
                </a:solidFill>
              </a:rPr>
              <a:t>Embedding classification scales to the full UNSPSC/eCl@ss tree (41k classes) by swapping taxonomy data — architecture unchanged. Rule tables are data-driven lists, extensible in minutes.</a:t>
            </a:r>
          </a:p>
          <a:p>
            <a:r>
              <a:rPr sz="1100" b="1">
                <a:solidFill>
                  <a:srgbClr val="1D4ED8"/>
                </a:solidFill>
              </a:rPr>
              <a:t>Row-by-row streaming with disk-cached fetches handles large catalogs and cheap re-runs; 1,000 rows enrich in seconds on a laptop CPU.</a:t>
            </a:r>
          </a:p>
          <a:p>
            <a:r>
              <a:rPr sz="1100" b="1">
                <a:solidFill>
                  <a:srgbClr val="1D4ED8"/>
                </a:solidFill>
              </a:rPr>
              <a:t>Continuous updates: re-run any row; review state persists across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XX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Title 125"/>
          <p:cNvSpPr txBox="1"/>
          <p:nvPr>
            <p:ph type="ctrTitle"/>
          </p:nvPr>
        </p:nvSpPr>
        <p:spPr>
          <a:xfrm>
            <a:off x="200000" y="700000"/>
            <a:ext cx="8744000" cy="520000"/>
          </a:xfrm>
          <a:prstGeom prst="rect">
            <a:avLst/>
          </a:prstGeom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00">
                <a:solidFill>
                  <a:srgbClr val="0B1E4B"/>
                </a:solidFill>
              </a:rPr>
              <a:t>Opportunities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How different from existing ideas?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No mainstream PIM/search vendor natively auto-classifies to industrial taxonomies (UNSPSC/eCl@ss/ETIM); only one (inRiver) partially extracts datasheets; enrichment leaders enrich their own search index, not an exportable governed catalog. Partly proved cross-referencing data is worth $500M — but automotive-only. We combine all of it, self-serve.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How it solves the problem statement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Minimal product information (part no, brand, short desc) + manufacturer URLs is exactly our input; the 252-column delivery format is exactly our output — populated dynamically with unseen evaluation data handled by fuzzy schema detection.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USP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1. $0 cost, CPU-only, offline-capable (graceful LLM fallback) — vs $45–100K/yr tools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2. Every AI value carries evidence: confidence + source span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3. Cross-supplier substitute matching built in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4. 8-second end-to-end runtime on a laptop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200">
                <a:solidFill>
                  <a:srgbClr val="0F172A"/>
                </a:solidFill>
              </a:rPr>
              <a:t>Description-driven enrichment from minimal inputs: brand resolution, 60+ product-type taxonomy rules, typed spec extraction (label/value/UOM triplets)</a:t>
            </a:r>
          </a:p>
          <a:p>
            <a:r>
              <a:rPr sz="1200">
                <a:solidFill>
                  <a:srgbClr val="0F172A"/>
                </a:solidFill>
              </a:rPr>
              <a:t>Fuzzy schema ingestion: any supplier's CSV/XLSX column names auto-mapped (in→mm, comma decimals)</a:t>
            </a:r>
          </a:p>
          <a:p>
            <a:r>
              <a:rPr sz="1200">
                <a:solidFill>
                  <a:srgbClr val="0F172A"/>
                </a:solidFill>
              </a:rPr>
              <a:t>Manufacturer URL scraping with headless-browser fallback · PDF spec-sheet extraction (PyMuPDF + pdfplumber)</a:t>
            </a:r>
          </a:p>
          <a:p>
            <a:r>
              <a:rPr sz="1200">
                <a:solidFill>
                  <a:srgbClr val="0F172A"/>
                </a:solidFill>
              </a:rPr>
              <a:t>UNSPSC auto-classification with confidence scores and top-5 candidate evidence</a:t>
            </a:r>
          </a:p>
          <a:p>
            <a:r>
              <a:rPr sz="1200">
                <a:solidFill>
                  <a:srgbClr val="0F172A"/>
                </a:solidFill>
              </a:rPr>
              <a:t>LLM enrichment (free tiers): 6 description types, 20 features, 50 attribute triplets, dims, certifications</a:t>
            </a:r>
          </a:p>
          <a:p>
            <a:r>
              <a:rPr sz="1200">
                <a:solidFill>
                  <a:srgbClr val="0F172A"/>
                </a:solidFill>
              </a:rPr>
              <a:t>Cross-supplier part cross-referencing + substitute search API</a:t>
            </a:r>
          </a:p>
          <a:p>
            <a:r>
              <a:rPr sz="1200">
                <a:solidFill>
                  <a:srgbClr val="0F172A"/>
                </a:solidFill>
              </a:rPr>
              <a:t>Human review console: approve/correct, confidence badges, source-tagged attributes</a:t>
            </a:r>
          </a:p>
          <a:p>
            <a:r>
              <a:rPr sz="1200">
                <a:solidFill>
                  <a:srgbClr val="0F172A"/>
                </a:solidFill>
              </a:rPr>
              <a:t>Delivery export: all 252 static headers populated exactly, CSV + XLSX, fully dynamic on unseen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8" name="Picture 137" descr="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500000"/>
            <a:ext cx="8844003" cy="3057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 143" descr="mvp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400000"/>
            <a:ext cx="5280000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Picture 14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550000"/>
            <a:ext cx="8844003" cy="30568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00000" y="21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Python 3.14 · FastAPI + Uvicorn (API &amp; review console) · sentence-transformers MiniLM (local embeddings)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PyMuPDF + pdfplumber (PDF extraction) · RapidFuzz (fuzzy matching) · pandas/openpyxl (I/O)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Playwright/Chromium (JS-page scraping) · httpx (cached fetch layer)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LLM layer: Cerebras → Groq → Gemini free tiers, OpenAI-compatible JSON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Prototype: $0.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LLMs: free tiers (Cerebras ~30K TPM / Groq / Gemini), offline heuristic fallback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Embeddings: local on CPU — no API cost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Hosting: Cloudflare quick tunnel (demo); Render free tier for a persistent MVP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At scale: paid LLM tier ≈ $0.001–0.005 per product; 100K products ≈ $100–500 one-time.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 167" descr="mvp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1400000"/>
            <a:ext cx="3360000" cy="2100000"/>
          </a:xfrm>
          <a:prstGeom prst="rect">
            <a:avLst/>
          </a:prstGeom>
        </p:spPr>
      </p:pic>
      <p:pic>
        <p:nvPicPr>
          <p:cNvPr id="169" name="Picture 168" descr="mvp_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000" y="1400000"/>
            <a:ext cx="3360000" cy="210000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600000" y="37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</a:rPr>
              <a:t>Review console (left) · substitute search API (right)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00000" y="155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Engineering-constraint substitution validation (fit/load margins, not just dimensions)</a:t>
            </a:r>
          </a:p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OCR path for scanned datasheets</a:t>
            </a:r>
          </a:p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Full eCl@ss/ETIM taxonomy trees + multi-language descriptions</a:t>
            </a:r>
          </a:p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Image enrichment: product-photo attribute extraction</a:t>
            </a:r>
          </a:p>
          <a:p>
            <a:pPr marL="228600" indent="-228600">
              <a:buClr>
                <a:srgbClr val="1D4ED8"/>
              </a:buClr>
              <a:buFont typeface="Arial"/>
              <a:buChar char="•"/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Incremental catalog sync + enterprise SSO for review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XX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Title 179"/>
          <p:cNvSpPr txBox="1"/>
          <p:nvPr>
            <p:ph type="ctrTitle"/>
          </p:nvPr>
        </p:nvSpPr>
        <p:spPr>
          <a:xfrm>
            <a:off x="200000" y="700000"/>
            <a:ext cx="8744000" cy="520000"/>
          </a:xfrm>
          <a:prstGeom prst="rect">
            <a:avLst/>
          </a:prstGeom>
        </p:spPr>
        <p:txBody>
          <a:bodyPr anchorCtr="0" anchor="t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00">
                <a:solidFill>
                  <a:srgbClr val="0B1E4B"/>
                </a:solidFill>
              </a:rPr>
              <a:t>Links: GitHub, Demo Video &amp; Working Prototype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GitHub Public Repository: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https://github.com/Rahulxoxo69/Statiz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Demo Video: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https://github.com/Rahulxoxo69/Statiz/blob/main/demo/demo_video.mp4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Working Prototype: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https://day-atm-become-bureau.trycloudflare.com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(live review console — search, filter, approve, export CSV; substitutes API at /api/substitutes/BRG-BEA0000)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